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2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33" d="100"/>
          <a:sy n="33" d="100"/>
        </p:scale>
        <p:origin x="-72" y="-324"/>
      </p:cViewPr>
      <p:guideLst>
        <p:guide orient="horz" pos="2821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r>
              <a:rPr lang="en-US" sz="2400" b="1">
                <a:solidFill>
                  <a:srgbClr val="222222"/>
                </a:solidFill>
                <a:latin typeface="Calibri"/>
              </a:rPr>
              <a:t>Office type distribution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Offices</c:v>
                </c:pt>
              </c:strCache>
            </c:strRef>
          </c:tx>
          <c:spPr>
            <a:solidFill>
              <a:srgbClr val="1E8E7E"/>
            </a:solidFill>
          </c:spPr>
          <c:invertIfNegative val="1"/>
          <c:dLbls>
            <c:numFmt formatCode="#,##0" sourceLinked="0"/>
            <c:txPr>
              <a:bodyPr/>
              <a:lstStyle/>
              <a:p>
                <a:pPr>
                  <a:defRPr sz="2000">
                    <a:solidFill>
                      <a:srgbClr val="222222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B.O</c:v>
                </c:pt>
                <c:pt idx="1">
                  <c:v>S.O</c:v>
                </c:pt>
                <c:pt idx="2">
                  <c:v>B.O a/w H.O</c:v>
                </c:pt>
                <c:pt idx="3">
                  <c:v>H.O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125263</c:v>
                </c:pt>
                <c:pt idx="1">
                  <c:v>24774</c:v>
                </c:pt>
                <c:pt idx="2">
                  <c:v>3942</c:v>
                </c:pt>
                <c:pt idx="3">
                  <c:v>810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29353984"/>
        <c:axId val="129458176"/>
      </c:barChart>
      <c:catAx>
        <c:axId val="129353984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9A9A"/>
            </a:solidFill>
          </a:ln>
        </c:spPr>
        <c:txPr>
          <a:bodyPr/>
          <a:lstStyle/>
          <a:p>
            <a:pPr>
              <a:defRPr sz="2000">
                <a:latin typeface="Calibri"/>
              </a:defRPr>
            </a:pPr>
            <a:endParaRPr lang="en-US"/>
          </a:p>
        </c:txPr>
        <c:crossAx val="129458176"/>
        <c:crosses val="autoZero"/>
        <c:auto val="1"/>
        <c:lblAlgn val="ctr"/>
        <c:lblOffset val="100"/>
        <c:noMultiLvlLbl val="0"/>
      </c:catAx>
      <c:valAx>
        <c:axId val="129458176"/>
        <c:scaling>
          <c:orientation val="minMax"/>
          <c:max val="160000"/>
        </c:scaling>
        <c:delete val="1"/>
        <c:axPos val="t"/>
        <c:numFmt formatCode="General" sourceLinked="1"/>
        <c:majorTickMark val="out"/>
        <c:minorTickMark val="none"/>
        <c:tickLblPos val="nextTo"/>
        <c:crossAx val="12935398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968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0619"/>
            <a:ext cx="14630400" cy="40505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968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8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744"/>
            <a:ext cx="2974371" cy="17240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25062" y="238020"/>
            <a:ext cx="1894581" cy="63817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9222342"/>
            <a:ext cx="18286730" cy="1064895"/>
          </a:xfrm>
          <a:custGeom>
            <a:avLst/>
            <a:gdLst/>
            <a:ahLst/>
            <a:cxnLst/>
            <a:rect l="l" t="t" r="r" b="b"/>
            <a:pathLst>
              <a:path w="18286730" h="1064895">
                <a:moveTo>
                  <a:pt x="18286257" y="1064653"/>
                </a:moveTo>
                <a:lnTo>
                  <a:pt x="0" y="1064653"/>
                </a:lnTo>
                <a:lnTo>
                  <a:pt x="0" y="0"/>
                </a:lnTo>
                <a:lnTo>
                  <a:pt x="18286257" y="0"/>
                </a:lnTo>
                <a:lnTo>
                  <a:pt x="18286257" y="1064653"/>
                </a:lnTo>
                <a:close/>
              </a:path>
            </a:pathLst>
          </a:custGeom>
          <a:solidFill>
            <a:srgbClr val="662F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4470" y="9475688"/>
            <a:ext cx="10163174" cy="6381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744"/>
            <a:ext cx="3012090" cy="175012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222342"/>
            <a:ext cx="18286730" cy="1064895"/>
          </a:xfrm>
          <a:custGeom>
            <a:avLst/>
            <a:gdLst/>
            <a:ahLst/>
            <a:cxnLst/>
            <a:rect l="l" t="t" r="r" b="b"/>
            <a:pathLst>
              <a:path w="18286730" h="1064895">
                <a:moveTo>
                  <a:pt x="18286257" y="1064653"/>
                </a:moveTo>
                <a:lnTo>
                  <a:pt x="0" y="1064653"/>
                </a:lnTo>
                <a:lnTo>
                  <a:pt x="0" y="0"/>
                </a:lnTo>
                <a:lnTo>
                  <a:pt x="18286257" y="0"/>
                </a:lnTo>
                <a:lnTo>
                  <a:pt x="18286257" y="1064653"/>
                </a:lnTo>
                <a:close/>
              </a:path>
            </a:pathLst>
          </a:custGeom>
          <a:solidFill>
            <a:srgbClr val="662F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64470" y="9475688"/>
            <a:ext cx="10163174" cy="6381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83640" y="25895"/>
            <a:ext cx="6920718" cy="1146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7735" y="1637644"/>
            <a:ext cx="15211425" cy="6809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upriyabhoyar/India-Post-Business-Intelligence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6564" y="335410"/>
            <a:ext cx="12520295" cy="714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algn="ctr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00" b="1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114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00" b="1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latin typeface="Times New Roman" panose="02020603050405020304"/>
                <a:cs typeface="Times New Roman" panose="02020603050405020304"/>
              </a:rPr>
              <a:t>RAISONI</a:t>
            </a:r>
            <a:r>
              <a:rPr sz="3000" b="1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latin typeface="Times New Roman" panose="02020603050405020304"/>
                <a:cs typeface="Times New Roman" panose="02020603050405020304"/>
              </a:rPr>
              <a:t>COLLEGE</a:t>
            </a:r>
            <a:r>
              <a:rPr sz="3000" b="1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00" b="1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3000" b="1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7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b="1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latin typeface="Times New Roman" panose="02020603050405020304"/>
                <a:cs typeface="Times New Roman" panose="02020603050405020304"/>
              </a:rPr>
              <a:t>MANAGEMENT</a:t>
            </a:r>
            <a:endParaRPr sz="3000" dirty="0">
              <a:latin typeface="Times New Roman" panose="02020603050405020304"/>
              <a:cs typeface="Times New Roman" panose="02020603050405020304"/>
            </a:endParaRPr>
          </a:p>
          <a:p>
            <a:pPr marL="494030" algn="ctr">
              <a:lnSpc>
                <a:spcPct val="100000"/>
              </a:lnSpc>
            </a:pPr>
            <a:r>
              <a:rPr sz="2000" spc="85" dirty="0">
                <a:latin typeface="Times New Roman" panose="02020603050405020304"/>
                <a:cs typeface="Times New Roman" panose="02020603050405020304"/>
              </a:rPr>
              <a:t>(An</a:t>
            </a:r>
            <a:r>
              <a:rPr sz="20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85" dirty="0">
                <a:latin typeface="Times New Roman" panose="02020603050405020304"/>
                <a:cs typeface="Times New Roman" panose="02020603050405020304"/>
              </a:rPr>
              <a:t>Empowered</a:t>
            </a:r>
            <a:r>
              <a:rPr sz="20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125" dirty="0">
                <a:latin typeface="Times New Roman" panose="02020603050405020304"/>
                <a:cs typeface="Times New Roman" panose="02020603050405020304"/>
              </a:rPr>
              <a:t>Autonomous</a:t>
            </a:r>
            <a:r>
              <a:rPr sz="20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95" dirty="0">
                <a:latin typeface="Times New Roman" panose="02020603050405020304"/>
                <a:cs typeface="Times New Roman" panose="02020603050405020304"/>
              </a:rPr>
              <a:t>Institute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affiliated</a:t>
            </a:r>
            <a:r>
              <a:rPr sz="20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1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0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85" dirty="0">
                <a:latin typeface="Times New Roman" panose="02020603050405020304"/>
                <a:cs typeface="Times New Roman" panose="02020603050405020304"/>
              </a:rPr>
              <a:t>SPPU)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259080" algn="ctr">
              <a:lnSpc>
                <a:spcPct val="100000"/>
              </a:lnSpc>
              <a:spcBef>
                <a:spcPts val="200"/>
              </a:spcBef>
            </a:pPr>
            <a:r>
              <a:rPr sz="2000" spc="125" dirty="0">
                <a:latin typeface="Times New Roman" panose="02020603050405020304"/>
                <a:cs typeface="Times New Roman" panose="02020603050405020304"/>
              </a:rPr>
              <a:t>(NAAC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55" dirty="0">
                <a:latin typeface="Times New Roman" panose="02020603050405020304"/>
                <a:cs typeface="Times New Roman" panose="02020603050405020304"/>
              </a:rPr>
              <a:t>Accredited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9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204" dirty="0">
                <a:latin typeface="Times New Roman" panose="02020603050405020304"/>
                <a:cs typeface="Times New Roman" panose="02020603050405020304"/>
              </a:rPr>
              <a:t>A+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100" dirty="0">
                <a:latin typeface="Times New Roman" panose="02020603050405020304"/>
                <a:cs typeface="Times New Roman" panose="02020603050405020304"/>
              </a:rPr>
              <a:t>Grade)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04775" algn="ctr">
              <a:lnSpc>
                <a:spcPts val="2845"/>
              </a:lnSpc>
              <a:spcBef>
                <a:spcPts val="570"/>
              </a:spcBef>
            </a:pPr>
            <a:r>
              <a:rPr sz="2000" spc="145" dirty="0">
                <a:latin typeface="Times New Roman" panose="02020603050405020304"/>
                <a:cs typeface="Times New Roman" panose="02020603050405020304"/>
              </a:rPr>
              <a:t>WAGHOLI</a:t>
            </a:r>
            <a:r>
              <a:rPr sz="20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0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135" dirty="0">
                <a:latin typeface="Times New Roman" panose="02020603050405020304"/>
                <a:cs typeface="Times New Roman" panose="02020603050405020304"/>
              </a:rPr>
              <a:t>PUNE–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412207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R="88900" algn="ctr">
              <a:lnSpc>
                <a:spcPts val="3925"/>
              </a:lnSpc>
            </a:pPr>
            <a:r>
              <a:rPr sz="3300" b="1" spc="-55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33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3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CSE</a:t>
            </a:r>
            <a:r>
              <a:rPr sz="33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[Data</a:t>
            </a:r>
            <a:r>
              <a:rPr sz="33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Science]</a:t>
            </a:r>
            <a:endParaRPr sz="3300" dirty="0">
              <a:latin typeface="Times New Roman" panose="02020603050405020304"/>
              <a:cs typeface="Times New Roman" panose="02020603050405020304"/>
            </a:endParaRPr>
          </a:p>
          <a:p>
            <a:pPr marL="12700" marR="238125" indent="136525" algn="ctr">
              <a:lnSpc>
                <a:spcPts val="3750"/>
              </a:lnSpc>
              <a:spcBef>
                <a:spcPts val="2115"/>
              </a:spcBef>
            </a:pPr>
            <a:r>
              <a:rPr sz="34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Cleaning and Analyzing the Raw India Post Office Directory to Improve Postal Delivery Coverage and Service-Gap Intelligence</a:t>
            </a:r>
            <a:endParaRPr lang="en-US" altLang="en-GB" sz="3850" b="1" i="1" dirty="0">
              <a:latin typeface="Arial" panose="020B0604020202020204"/>
              <a:cs typeface="Arial" panose="020B0604020202020204"/>
            </a:endParaRPr>
          </a:p>
          <a:p>
            <a:pPr marR="88900" algn="ctr">
              <a:lnSpc>
                <a:spcPts val="4295"/>
              </a:lnSpc>
              <a:spcBef>
                <a:spcPts val="1400"/>
              </a:spcBef>
            </a:pPr>
            <a:r>
              <a:rPr sz="3900" b="1" u="none" spc="-90" dirty="0">
                <a:latin typeface="Times New Roman" panose="02020603050405020304"/>
                <a:cs typeface="Times New Roman" panose="02020603050405020304"/>
              </a:rPr>
              <a:t>TAE-2</a:t>
            </a:r>
          </a:p>
          <a:p>
            <a:pPr marR="88900" algn="ctr">
              <a:lnSpc>
                <a:spcPts val="4295"/>
              </a:lnSpc>
            </a:pPr>
            <a:r>
              <a:rPr sz="3150" b="1" u="none" spc="-1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Subject: Business Intelligence</a:t>
            </a:r>
            <a:endParaRPr sz="3150" b="1" spc="-50" dirty="0">
              <a:latin typeface="Times New Roman" panose="02020603050405020304"/>
              <a:cs typeface="Times New Roman" panose="02020603050405020304"/>
            </a:endParaRPr>
          </a:p>
          <a:p>
            <a:pPr marL="0" marR="0" algn="ctr">
              <a:lnSpc>
                <a:spcPts val="3085"/>
              </a:lnSpc>
              <a:spcBef>
                <a:spcPts val="1200"/>
              </a:spcBef>
            </a:pPr>
            <a:r>
              <a:rPr sz="3150" b="1" spc="-50" dirty="0">
                <a:latin typeface="Times New Roman" panose="02020603050405020304"/>
                <a:cs typeface="Times New Roman" panose="02020603050405020304"/>
              </a:rPr>
              <a:t>Guided By:</a:t>
            </a:r>
            <a:endParaRPr sz="3150" dirty="0">
              <a:latin typeface="Times New Roman" panose="02020603050405020304"/>
              <a:cs typeface="Times New Roman" panose="02020603050405020304"/>
            </a:endParaRPr>
          </a:p>
          <a:p>
            <a:pPr marL="0" marR="0" algn="ctr">
              <a:lnSpc>
                <a:spcPts val="3085"/>
              </a:lnSpc>
            </a:pPr>
            <a:r>
              <a:rPr lang="en-GB" altLang="en-US" sz="3150" b="1" dirty="0">
                <a:latin typeface="Times New Roman" panose="02020603050405020304"/>
                <a:cs typeface="Times New Roman" panose="02020603050405020304"/>
              </a:rPr>
              <a:t>Mr. Chinmay Mukim</a:t>
            </a:r>
            <a:endParaRPr sz="3150" dirty="0">
              <a:latin typeface="Times New Roman" panose="02020603050405020304"/>
              <a:cs typeface="Times New Roman" panose="02020603050405020304"/>
            </a:endParaRPr>
          </a:p>
          <a:p>
            <a:pPr marL="489585" algn="ctr">
              <a:lnSpc>
                <a:spcPct val="100000"/>
              </a:lnSpc>
              <a:spcBef>
                <a:spcPts val="2055"/>
              </a:spcBef>
            </a:pPr>
            <a:r>
              <a:rPr sz="3150" b="1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Name of Students</a:t>
            </a:r>
            <a:endParaRPr sz="31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0000" y="7581527"/>
            <a:ext cx="5000000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i="1" dirty="0" err="1">
                <a:latin typeface="Times New Roman" panose="02020603050405020304"/>
                <a:cs typeface="Times New Roman" panose="02020603050405020304"/>
              </a:rPr>
              <a:t>Anupriya Bhoyar[10]</a:t>
            </a:r>
            <a:endParaRPr sz="31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00000" y="7581889"/>
            <a:ext cx="5600000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i="1" spc="-40" dirty="0">
                <a:latin typeface="Times New Roman" panose="02020603050405020304"/>
                <a:cs typeface="Times New Roman" panose="02020603050405020304"/>
              </a:rPr>
              <a:t>Dhanashree Khamitkar[14]</a:t>
            </a:r>
            <a:endParaRPr sz="31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Problem Statement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920240"/>
            <a:ext cx="859536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Calibri"/>
              </a:rPr>
              <a:t>The raw India Post directory is large and hard to analyze directly.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246120"/>
            <a:ext cx="777240" cy="77724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154680"/>
            <a:ext cx="859536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Calibri"/>
              </a:rPr>
              <a:t>Data has missing values, inconsistent text formatting and repeated pincodes.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480560"/>
            <a:ext cx="777240" cy="77724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389120"/>
            <a:ext cx="859536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Calibri"/>
              </a:rPr>
              <a:t>A pincode alone cannot identify an office, so a composite office key is needed.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5715000"/>
            <a:ext cx="777240" cy="77724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623560"/>
            <a:ext cx="8595360" cy="9601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Calibri"/>
              </a:rPr>
              <a:t>Delivery vs non-delivery gaps by state and office type stay hidden.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7086600"/>
            <a:ext cx="9601200" cy="1371600"/>
          </a:xfrm>
          <a:prstGeom prst="roundRect">
            <a:avLst>
              <a:gd name="adj" fmla="val 15000"/>
            </a:avLst>
          </a:prstGeom>
          <a:solidFill>
            <a:srgbClr val="F4F0F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Need: </a:t>
            </a:r>
            <a:r>
              <a:rPr sz="2600" b="0">
                <a:solidFill>
                  <a:srgbClr val="222222"/>
                </a:solidFill>
                <a:latin typeface="Calibri"/>
              </a:rPr>
              <a:t>a structured BI pipeline to clean, organize, query and visualize the directory.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8560" y="1920240"/>
            <a:ext cx="6035040" cy="1965960"/>
          </a:xfrm>
          <a:prstGeom prst="roundRect">
            <a:avLst>
              <a:gd name="adj" fmla="val 6000"/>
            </a:avLst>
          </a:prstGeom>
          <a:solidFill>
            <a:srgbClr val="662F9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0" y="2057400"/>
            <a:ext cx="60350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imes New Roman"/>
              </a:rPr>
              <a:t>154,797+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3017520"/>
            <a:ext cx="603504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raw post-office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38560" y="4114800"/>
            <a:ext cx="6035040" cy="1965960"/>
          </a:xfrm>
          <a:prstGeom prst="roundRect">
            <a:avLst>
              <a:gd name="adj" fmla="val 6000"/>
            </a:avLst>
          </a:prstGeom>
          <a:solidFill>
            <a:srgbClr val="662F9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0" y="4251960"/>
            <a:ext cx="60350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imes New Roman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5212080"/>
            <a:ext cx="603504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states / UTs to compare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38560" y="6309360"/>
            <a:ext cx="6035040" cy="1965960"/>
          </a:xfrm>
          <a:prstGeom prst="roundRect">
            <a:avLst>
              <a:gd name="adj" fmla="val 6000"/>
            </a:avLst>
          </a:prstGeom>
          <a:solidFill>
            <a:srgbClr val="662F9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60350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imes New Roman"/>
              </a:rPr>
              <a:t>Pincode ≠ Office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7406640"/>
            <a:ext cx="603504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repeated pincodes need a composite 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End-to-End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74320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662F9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Raw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2194560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data.gov.in</a:t>
            </a:r>
          </a:p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154,797+ rows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71216" y="3474720"/>
            <a:ext cx="320040" cy="365760"/>
          </a:xfrm>
          <a:prstGeom prst="rightArrow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27832" y="274320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662F9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6392" y="4754880"/>
            <a:ext cx="2194560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Power Query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76088" y="3474720"/>
            <a:ext cx="320040" cy="365760"/>
          </a:xfrm>
          <a:prstGeom prst="rightArrow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32704" y="274320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662F9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Cleaned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1264" y="4754880"/>
            <a:ext cx="2194560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154,789 rows</a:t>
            </a:r>
          </a:p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0 duplicates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80960" y="3474720"/>
            <a:ext cx="320040" cy="365760"/>
          </a:xfrm>
          <a:prstGeom prst="rightArrow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37576" y="274320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E8701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MySQL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4754880"/>
            <a:ext cx="2194560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MySQL</a:t>
            </a:r>
          </a:p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Workbench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85832" y="3474720"/>
            <a:ext cx="320040" cy="365760"/>
          </a:xfrm>
          <a:prstGeom prst="rightArrow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42448" y="274320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3B4A6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Star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51008" y="4754880"/>
            <a:ext cx="2194560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Fact + 2</a:t>
            </a:r>
          </a:p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dimensions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2490704" y="3474720"/>
            <a:ext cx="320040" cy="365760"/>
          </a:xfrm>
          <a:prstGeom prst="rightArrow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2847320" y="274320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1E8E7E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SQL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55880" y="4754880"/>
            <a:ext cx="2194560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KPI queries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4895576" y="3474720"/>
            <a:ext cx="320040" cy="365760"/>
          </a:xfrm>
          <a:prstGeom prst="rightArrow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5252192" y="274320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1E8E7E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Power BI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60751" y="4754880"/>
            <a:ext cx="2194560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KPIs &amp;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675120"/>
            <a:ext cx="6821424" cy="1234440"/>
          </a:xfrm>
          <a:prstGeom prst="roundRect">
            <a:avLst>
              <a:gd name="adj" fmla="val 15000"/>
            </a:avLst>
          </a:prstGeom>
          <a:solidFill>
            <a:srgbClr val="662F9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STEP 1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Data Collection &amp; Cleaning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7576" y="6675120"/>
            <a:ext cx="2011680" cy="1234440"/>
          </a:xfrm>
          <a:prstGeom prst="roundRect">
            <a:avLst>
              <a:gd name="adj" fmla="val 15000"/>
            </a:avLst>
          </a:prstGeom>
          <a:solidFill>
            <a:srgbClr val="E8701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STEP 2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ETL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42448" y="6675120"/>
            <a:ext cx="2011679" cy="1234440"/>
          </a:xfrm>
          <a:prstGeom prst="roundRect">
            <a:avLst>
              <a:gd name="adj" fmla="val 15000"/>
            </a:avLst>
          </a:prstGeom>
          <a:solidFill>
            <a:srgbClr val="3B4A6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STEP 3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47320" y="6675120"/>
            <a:ext cx="4416551" cy="1234440"/>
          </a:xfrm>
          <a:prstGeom prst="roundRect">
            <a:avLst>
              <a:gd name="adj" fmla="val 15000"/>
            </a:avLst>
          </a:prstGeom>
          <a:solidFill>
            <a:srgbClr val="1E8E7E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STEP 4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Dashboard &amp;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Step 1: Data Collection &amp; Cleaning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852160" cy="58521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548640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5400" b="1" dirty="0">
                <a:solidFill>
                  <a:srgbClr val="662F91"/>
                </a:solidFill>
                <a:latin typeface="Times New Roman"/>
              </a:rPr>
              <a:t>154,797+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555555"/>
                </a:solidFill>
                <a:latin typeface="Calibri"/>
              </a:rPr>
              <a:t>raw records collected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5486400" cy="3931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1">
                <a:solidFill>
                  <a:srgbClr val="662F91"/>
                </a:solidFill>
                <a:latin typeface="Calibri"/>
              </a:rPr>
              <a:t>SOURCE</a:t>
            </a:r>
          </a:p>
          <a:p>
            <a:pPr algn="l">
              <a:spcBef>
                <a:spcPts val="1400"/>
              </a:spcBef>
            </a:pPr>
            <a:r>
              <a:rPr sz="2400" b="0">
                <a:solidFill>
                  <a:srgbClr val="222222"/>
                </a:solidFill>
                <a:latin typeface="Calibri"/>
              </a:rPr>
              <a:t>data.gov.in, Department of Posts</a:t>
            </a: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662F91"/>
                </a:solidFill>
                <a:latin typeface="Calibri"/>
              </a:rPr>
              <a:t>DATASET</a:t>
            </a:r>
          </a:p>
          <a:p>
            <a:pPr algn="l">
              <a:spcBef>
                <a:spcPts val="1400"/>
              </a:spcBef>
            </a:pPr>
            <a:r>
              <a:rPr sz="2400" b="0">
                <a:solidFill>
                  <a:srgbClr val="222222"/>
                </a:solidFill>
                <a:latin typeface="Calibri"/>
              </a:rPr>
              <a:t>All India Pincode Directory</a:t>
            </a: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662F91"/>
                </a:solidFill>
                <a:latin typeface="Calibri"/>
              </a:rPr>
              <a:t>KEY FIELDS</a:t>
            </a:r>
          </a:p>
          <a:p>
            <a:pPr algn="l">
              <a:spcBef>
                <a:spcPts val="1400"/>
              </a:spcBef>
            </a:pPr>
            <a:r>
              <a:rPr sz="2400" b="0">
                <a:solidFill>
                  <a:srgbClr val="222222"/>
                </a:solidFill>
                <a:latin typeface="Calibri"/>
              </a:rPr>
              <a:t>officename, pincode, officeType, Deliverystatus, state, Telephone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2880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Remove 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56032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circle + division + officename + pincode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0" y="182880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527280" y="2011680"/>
            <a:ext cx="640080" cy="64008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04520" y="196596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Fix 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04520" y="256032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NA → null; keep blank phones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84048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06640" y="4023360"/>
            <a:ext cx="640080" cy="64008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97764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Trim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457200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Remove extra leading/trailing spaces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0" y="384048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527280" y="4023360"/>
            <a:ext cx="640080" cy="64008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04520" y="397764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Standardize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04520" y="457200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Delivery / Non-Delivery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585216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06640" y="6035040"/>
            <a:ext cx="640080" cy="64008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598932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Fix data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658368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Pincode stored as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0" y="585216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527280" y="6035040"/>
            <a:ext cx="640080" cy="64008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04520" y="598932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Add derived keys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04520" y="658368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office_key, location_key, has_valid_contact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7909560"/>
            <a:ext cx="16459200" cy="914400"/>
          </a:xfrm>
          <a:prstGeom prst="roundRect">
            <a:avLst>
              <a:gd name="adj" fmla="val 15000"/>
            </a:avLst>
          </a:prstGeom>
          <a:solidFill>
            <a:srgbClr val="662F9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Result: 154,789 clean records  |  0 duplicate rows  |  36 states/UTs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Step 2 &amp; 3: ETL and Schema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863840" cy="777240"/>
          </a:xfrm>
          <a:prstGeom prst="roundRect">
            <a:avLst>
              <a:gd name="adj" fmla="val 15000"/>
            </a:avLst>
          </a:prstGeom>
          <a:solidFill>
            <a:srgbClr val="E8701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STEP 2  |  ETL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80360"/>
            <a:ext cx="7863840" cy="12801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3108960"/>
            <a:ext cx="822960" cy="822960"/>
          </a:xfrm>
          <a:prstGeom prst="ellipse">
            <a:avLst/>
          </a:prstGeom>
          <a:solidFill>
            <a:srgbClr val="E8701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971800"/>
            <a:ext cx="64922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474720"/>
            <a:ext cx="649224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Raw directory CSV from data.gov.in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43400"/>
            <a:ext cx="7863840" cy="12801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3000" y="4572000"/>
            <a:ext cx="822960" cy="822960"/>
          </a:xfrm>
          <a:prstGeom prst="ellipse">
            <a:avLst/>
          </a:prstGeom>
          <a:solidFill>
            <a:srgbClr val="E8701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434840"/>
            <a:ext cx="64922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937760"/>
            <a:ext cx="649224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Power Query cleaning + derived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806440"/>
            <a:ext cx="7863840" cy="12801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3000" y="6035040"/>
            <a:ext cx="822960" cy="822960"/>
          </a:xfrm>
          <a:prstGeom prst="ellipse">
            <a:avLst/>
          </a:prstGeom>
          <a:solidFill>
            <a:srgbClr val="E8701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897879"/>
            <a:ext cx="64922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6400800"/>
            <a:ext cx="649224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Cleaned CSV → MySQL table cleaned_india_post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7269479"/>
            <a:ext cx="7863840" cy="12801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3000" y="7498079"/>
            <a:ext cx="822960" cy="822960"/>
          </a:xfrm>
          <a:prstGeom prst="ellipse">
            <a:avLst/>
          </a:prstGeom>
          <a:solidFill>
            <a:srgbClr val="E8701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7360919"/>
            <a:ext cx="64922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7863840"/>
            <a:ext cx="649224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SQL checks: 154,789 rows, 0 duplicates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828800"/>
            <a:ext cx="7863840" cy="777240"/>
          </a:xfrm>
          <a:prstGeom prst="roundRect">
            <a:avLst>
              <a:gd name="adj" fmla="val 15000"/>
            </a:avLst>
          </a:prstGeom>
          <a:solidFill>
            <a:srgbClr val="3B4A6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STEP 3  |  SCHEMA DESIGN (STAR)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880360"/>
            <a:ext cx="3794760" cy="2286000"/>
          </a:xfrm>
          <a:prstGeom prst="roundRect">
            <a:avLst>
              <a:gd name="adj" fmla="val 8000"/>
            </a:avLst>
          </a:prstGeom>
          <a:solidFill>
            <a:srgbClr val="3B4A6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Dim_Location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location_key, circle, region, division, district,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78840" y="2880360"/>
            <a:ext cx="3794760" cy="2286000"/>
          </a:xfrm>
          <a:prstGeom prst="roundRect">
            <a:avLst>
              <a:gd name="adj" fmla="val 8000"/>
            </a:avLst>
          </a:prstGeom>
          <a:solidFill>
            <a:srgbClr val="3B4A6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Dim_Office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office_key, officeType, Deliverystatus, Telephone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5806440"/>
            <a:ext cx="5669280" cy="2103120"/>
          </a:xfrm>
          <a:prstGeom prst="roundRect">
            <a:avLst>
              <a:gd name="adj" fmla="val 8000"/>
            </a:avLst>
          </a:prstGeom>
          <a:solidFill>
            <a:srgbClr val="E8701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Fact_Coverage  (154,789 rows)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office_key, location_key, Deliverystatus, has_valid_contact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07140" y="5166360"/>
            <a:ext cx="1028700" cy="640080"/>
          </a:xfrm>
          <a:prstGeom prst="line">
            <a:avLst/>
          </a:prstGeom>
          <a:ln w="381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4447520" y="5166360"/>
            <a:ext cx="1028700" cy="640080"/>
          </a:xfrm>
          <a:prstGeom prst="line">
            <a:avLst/>
          </a:prstGeom>
          <a:ln w="381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509760" y="8092440"/>
            <a:ext cx="786384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Raw_Cleaned = staging layer kept for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SQL Analysis &amp; Business Questions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6459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  <a:gridCol w="822960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Business Question</a:t>
                      </a:r>
                    </a:p>
                  </a:txBody>
                  <a:tcPr marL="228600" marR="228600" anchor="ctr">
                    <a:solidFill>
                      <a:srgbClr val="662F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SQL output / visualization</a:t>
                      </a:r>
                    </a:p>
                  </a:txBody>
                  <a:tcPr marL="228600" marR="228600" anchor="ctr">
                    <a:solidFill>
                      <a:srgbClr val="662F9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Calibri"/>
                        </a:rPr>
                        <a:t>How many post offices are present?</a:t>
                      </a:r>
                    </a:p>
                  </a:txBody>
                  <a:tcPr marL="228600" marR="228600" anchor="ctr"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662F91"/>
                          </a:solidFill>
                          <a:latin typeface="Calibri"/>
                        </a:rPr>
                        <a:t>COUNT(*) → 154,789</a:t>
                      </a:r>
                    </a:p>
                  </a:txBody>
                  <a:tcPr marL="228600" marR="228600" anchor="ctr">
                    <a:solidFill>
                      <a:srgbClr val="F4F0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Calibri"/>
                        </a:rPr>
                        <a:t>What is the Delivery vs Non-Delivery split?</a:t>
                      </a:r>
                    </a:p>
                  </a:txBody>
                  <a:tcPr marL="228600" marR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662F91"/>
                          </a:solidFill>
                          <a:latin typeface="Calibri"/>
                        </a:rPr>
                        <a:t>COUNT + percentage → 93.86% / 6.14%</a:t>
                      </a:r>
                    </a:p>
                  </a:txBody>
                  <a:tcPr marL="228600" marR="228600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Calibri"/>
                        </a:rPr>
                        <a:t>How are offices distributed by state?</a:t>
                      </a:r>
                    </a:p>
                  </a:txBody>
                  <a:tcPr marL="228600" marR="228600" anchor="ctr"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662F91"/>
                          </a:solidFill>
                          <a:latin typeface="Calibri"/>
                        </a:rPr>
                        <a:t>GROUP BY statename</a:t>
                      </a:r>
                    </a:p>
                  </a:txBody>
                  <a:tcPr marL="228600" marR="228600" anchor="ctr">
                    <a:solidFill>
                      <a:srgbClr val="F4F0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Calibri"/>
                        </a:rPr>
                        <a:t>What is delivery coverage by state?</a:t>
                      </a:r>
                    </a:p>
                  </a:txBody>
                  <a:tcPr marL="228600" marR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662F91"/>
                          </a:solidFill>
                          <a:latin typeface="Calibri"/>
                        </a:rPr>
                        <a:t>SUM(CASE...) / COUNT(*)</a:t>
                      </a:r>
                    </a:p>
                  </a:txBody>
                  <a:tcPr marL="228600" marR="228600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Calibri"/>
                        </a:rPr>
                        <a:t>How are office types distributed?</a:t>
                      </a:r>
                    </a:p>
                  </a:txBody>
                  <a:tcPr marL="228600" marR="228600" anchor="ctr"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662F91"/>
                          </a:solidFill>
                          <a:latin typeface="Calibri"/>
                        </a:rPr>
                        <a:t>GROUP BY officeType</a:t>
                      </a:r>
                    </a:p>
                  </a:txBody>
                  <a:tcPr marL="228600" marR="228600" anchor="ctr">
                    <a:solidFill>
                      <a:srgbClr val="F4F0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Calibri"/>
                        </a:rPr>
                        <a:t>How complete is contact information?</a:t>
                      </a:r>
                    </a:p>
                  </a:txBody>
                  <a:tcPr marL="228600" marR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662F91"/>
                          </a:solidFill>
                          <a:latin typeface="Calibri"/>
                        </a:rPr>
                        <a:t>CASE on Telephone → 15.13%</a:t>
                      </a:r>
                    </a:p>
                  </a:txBody>
                  <a:tcPr marL="228600" marR="22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Step 4: Dashboard &amp;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1E8E7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154,789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Total post offices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8288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1E8E7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0" y="192024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93.86%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92608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Delivery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8288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1E8E7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0" y="192024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6.14%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92608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Non-delivery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33119" y="18288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1E8E7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19" y="1920240"/>
            <a:ext cx="384048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15.13%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19" y="2926080"/>
            <a:ext cx="384048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Contact completeness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1E8E7E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4023360"/>
            <a:ext cx="7680960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Calibri"/>
              </a:rPr>
              <a:t>UP leads with 17,670 offices, then Maharashtra (12,609) and Tamil Nadu (11,870).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1E8E7E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5212080"/>
            <a:ext cx="7680960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Calibri"/>
              </a:rPr>
              <a:t>B.O offices dominate: 125,263 of 154,789.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6583680"/>
            <a:ext cx="457200" cy="457200"/>
          </a:xfrm>
          <a:prstGeom prst="ellipse">
            <a:avLst/>
          </a:prstGeom>
          <a:solidFill>
            <a:srgbClr val="1E8E7E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00200" y="6400800"/>
            <a:ext cx="7680960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Calibri"/>
              </a:rPr>
              <a:t>Only 23,416 offices have a phone number.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7772400"/>
            <a:ext cx="457200" cy="457200"/>
          </a:xfrm>
          <a:prstGeom prst="ellipse">
            <a:avLst/>
          </a:prstGeom>
          <a:solidFill>
            <a:srgbClr val="1E8E7E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0200" y="7589520"/>
            <a:ext cx="7680960" cy="10972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Calibri"/>
              </a:rPr>
              <a:t>Some smaller states/UTs show lower delivery coverage.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931920"/>
            <a:ext cx="7680960" cy="49377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9784080" y="4023360"/>
          <a:ext cx="7498079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Project Files, GitHub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863840" cy="777240"/>
          </a:xfrm>
          <a:prstGeom prst="roundRect">
            <a:avLst>
              <a:gd name="adj" fmla="val 15000"/>
            </a:avLst>
          </a:prstGeom>
          <a:solidFill>
            <a:srgbClr val="662F9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PROJECT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88920"/>
            <a:ext cx="7863840" cy="37947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3702730"/>
            <a:ext cx="7498079" cy="2012859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400" b="1" dirty="0">
                <a:solidFill>
                  <a:srgbClr val="662F91"/>
                </a:solidFill>
                <a:latin typeface="Calibri"/>
              </a:rPr>
              <a:t>▪  </a:t>
            </a:r>
            <a:r>
              <a:rPr lang="en-US" sz="2400" dirty="0" smtClean="0">
                <a:solidFill>
                  <a:srgbClr val="222222"/>
                </a:solidFill>
                <a:latin typeface="Calibri"/>
              </a:rPr>
              <a:t>IndIa_Post_Original_Dataset</a:t>
            </a:r>
            <a:r>
              <a:rPr lang="en-US" sz="2400" dirty="0">
                <a:solidFill>
                  <a:srgbClr val="222222"/>
                </a:solidFill>
                <a:latin typeface="Calibri"/>
              </a:rPr>
              <a:t>.</a:t>
            </a:r>
            <a:r>
              <a:rPr sz="2400" b="0" dirty="0" smtClean="0">
                <a:solidFill>
                  <a:srgbClr val="222222"/>
                </a:solidFill>
                <a:latin typeface="Calibri"/>
              </a:rPr>
              <a:t>CSV</a:t>
            </a:r>
            <a:endParaRPr sz="2400" b="0" dirty="0">
              <a:solidFill>
                <a:srgbClr val="222222"/>
              </a:solidFill>
              <a:latin typeface="Calibri"/>
            </a:endParaRPr>
          </a:p>
          <a:p>
            <a:pPr algn="l">
              <a:spcBef>
                <a:spcPts val="1200"/>
              </a:spcBef>
            </a:pPr>
            <a:r>
              <a:rPr sz="2400" b="1" dirty="0" smtClean="0">
                <a:solidFill>
                  <a:srgbClr val="662F91"/>
                </a:solidFill>
                <a:latin typeface="Calibri"/>
              </a:rPr>
              <a:t>▪  </a:t>
            </a:r>
            <a:r>
              <a:rPr sz="2400" b="0" dirty="0">
                <a:solidFill>
                  <a:srgbClr val="222222"/>
                </a:solidFill>
                <a:latin typeface="Calibri"/>
              </a:rPr>
              <a:t>SQL </a:t>
            </a:r>
            <a:r>
              <a:rPr lang="en-US" sz="2400" dirty="0" err="1" smtClean="0">
                <a:solidFill>
                  <a:srgbClr val="222222"/>
                </a:solidFill>
                <a:latin typeface="Calibri"/>
              </a:rPr>
              <a:t>Queries.sql</a:t>
            </a:r>
            <a:r>
              <a:rPr lang="en-US" sz="2400" dirty="0" smtClean="0">
                <a:solidFill>
                  <a:srgbClr val="222222"/>
                </a:solidFill>
                <a:latin typeface="Calibri"/>
              </a:rPr>
              <a:t> </a:t>
            </a:r>
            <a:r>
              <a:rPr sz="2400" b="0" dirty="0" smtClean="0">
                <a:solidFill>
                  <a:srgbClr val="222222"/>
                </a:solidFill>
                <a:latin typeface="Calibri"/>
              </a:rPr>
              <a:t>(schema </a:t>
            </a:r>
            <a:r>
              <a:rPr sz="2400" b="0" dirty="0">
                <a:solidFill>
                  <a:srgbClr val="222222"/>
                </a:solidFill>
                <a:latin typeface="Calibri"/>
              </a:rPr>
              <a:t>+ KPI queries)</a:t>
            </a:r>
          </a:p>
          <a:p>
            <a:pPr algn="l">
              <a:spcBef>
                <a:spcPts val="1200"/>
              </a:spcBef>
            </a:pPr>
            <a:r>
              <a:rPr sz="2400" b="1" dirty="0">
                <a:solidFill>
                  <a:srgbClr val="662F91"/>
                </a:solidFill>
                <a:latin typeface="Calibri"/>
              </a:rPr>
              <a:t>▪  </a:t>
            </a:r>
            <a:r>
              <a:rPr sz="2400" b="0" dirty="0">
                <a:solidFill>
                  <a:srgbClr val="222222"/>
                </a:solidFill>
                <a:latin typeface="Calibri"/>
              </a:rPr>
              <a:t>Power BI dashboard (.</a:t>
            </a:r>
            <a:r>
              <a:rPr sz="2400" b="0" dirty="0" err="1">
                <a:solidFill>
                  <a:srgbClr val="222222"/>
                </a:solidFill>
                <a:latin typeface="Calibri"/>
              </a:rPr>
              <a:t>pbix</a:t>
            </a:r>
            <a:r>
              <a:rPr sz="2400" b="0" dirty="0" smtClean="0">
                <a:solidFill>
                  <a:srgbClr val="222222"/>
                </a:solidFill>
                <a:latin typeface="Calibri"/>
              </a:rPr>
              <a:t>)</a:t>
            </a:r>
            <a:endParaRPr lang="en-US" sz="2400" b="0" dirty="0" smtClean="0">
              <a:solidFill>
                <a:srgbClr val="222222"/>
              </a:solidFill>
              <a:latin typeface="Calibri"/>
            </a:endParaRPr>
          </a:p>
          <a:p>
            <a:pPr marL="342900" indent="-342900" algn="l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b="0" dirty="0" smtClean="0">
                <a:solidFill>
                  <a:srgbClr val="222222"/>
                </a:solidFill>
                <a:latin typeface="Calibri"/>
              </a:rPr>
              <a:t>Project Proposal &amp; PPT</a:t>
            </a:r>
            <a:endParaRPr sz="24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6858000"/>
            <a:ext cx="7863840" cy="1828800"/>
          </a:xfrm>
          <a:prstGeom prst="roundRect">
            <a:avLst>
              <a:gd name="adj" fmla="val 6000"/>
            </a:avLst>
          </a:prstGeom>
          <a:solidFill>
            <a:srgbClr val="662F9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949440"/>
            <a:ext cx="786384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625512"/>
            <a:ext cx="7863840" cy="750975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lang="en-US" sz="2200" b="0" dirty="0" smtClean="0">
                <a:solidFill>
                  <a:srgbClr val="FFFFFF"/>
                </a:solidFill>
                <a:latin typeface="Calibri"/>
                <a:hlinkClick r:id="rId2"/>
              </a:rPr>
              <a:t>https://github.com/anupriyabhoyar/India-Post-Business-Intelligence</a:t>
            </a:r>
            <a:r>
              <a:rPr lang="en-US" sz="2200" b="0" dirty="0" smtClean="0">
                <a:solidFill>
                  <a:srgbClr val="FFFFFF"/>
                </a:solidFill>
                <a:latin typeface="Calibri"/>
              </a:rPr>
              <a:t> </a:t>
            </a:r>
            <a:endParaRPr sz="22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7863840" cy="777240"/>
          </a:xfrm>
          <a:prstGeom prst="roundRect">
            <a:avLst>
              <a:gd name="adj" fmla="val 15000"/>
            </a:avLst>
          </a:prstGeom>
          <a:solidFill>
            <a:srgbClr val="E8701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788920"/>
            <a:ext cx="7863840" cy="10515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0" y="2834639"/>
            <a:ext cx="7498079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Power Query /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319272"/>
            <a:ext cx="7498079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Cleaning, transformation,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977639"/>
            <a:ext cx="7863840" cy="10515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4023359"/>
            <a:ext cx="7498079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507992"/>
            <a:ext cx="7498079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Data warehouse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5166359"/>
            <a:ext cx="7863840" cy="10515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5212079"/>
            <a:ext cx="7498079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MySQL Workbench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5696712"/>
            <a:ext cx="7498079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Data loading and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6355079"/>
            <a:ext cx="7863840" cy="10515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6400799"/>
            <a:ext cx="7498079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885431"/>
            <a:ext cx="7498079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Aggregations, KPIs,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7543800"/>
            <a:ext cx="7863840" cy="1051560"/>
          </a:xfrm>
          <a:prstGeom prst="roundRect">
            <a:avLst>
              <a:gd name="adj" fmla="val 6000"/>
            </a:avLst>
          </a:prstGeom>
          <a:solidFill>
            <a:srgbClr val="F4F0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7589520"/>
            <a:ext cx="7498079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>
                <a:solidFill>
                  <a:srgbClr val="E8701A"/>
                </a:solidFill>
                <a:latin typeface="Calibri"/>
              </a:rPr>
              <a:t>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8074152"/>
            <a:ext cx="7498079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Data exchange format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32"/>
            <a:ext cx="11887200" cy="1143000"/>
          </a:xfrm>
        </p:spPr>
        <p:txBody>
          <a:bodyPr anchor="ctr"/>
          <a:lstStyle/>
          <a:p>
            <a:pPr algn="ctr"/>
            <a:r>
              <a:t>Conclusion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920240"/>
            <a:ext cx="15087600" cy="1371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  <a:latin typeface="Calibri"/>
              </a:rPr>
              <a:t>Turned a raw 154,797+ record India Post directory into a clean, warehouse-ready dataset with 0 duplicates.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794760"/>
            <a:ext cx="822960" cy="82296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520440"/>
            <a:ext cx="15087600" cy="1371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  <a:latin typeface="Calibri"/>
              </a:rPr>
              <a:t>Star schema in MySQL, SQL analysis and a Power BI dashboard now support coverage and delivery-status insights.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5394959"/>
            <a:ext cx="822960" cy="822960"/>
          </a:xfrm>
          <a:prstGeom prst="ellipse">
            <a:avLst/>
          </a:prstGeom>
          <a:solidFill>
            <a:srgbClr val="662F91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5120640"/>
            <a:ext cx="15087600" cy="1371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  <a:latin typeface="Calibri"/>
              </a:rPr>
              <a:t>Delivery coverage is 93.86%, but only 15.13% of offices have contact details: a clear data-quality and service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7086600"/>
            <a:ext cx="16459200" cy="1371600"/>
          </a:xfrm>
          <a:prstGeom prst="roundRect">
            <a:avLst>
              <a:gd name="adj" fmla="val 15000"/>
            </a:avLst>
          </a:prstGeom>
          <a:solidFill>
            <a:srgbClr val="F4F0F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l"/>
            <a:r>
              <a:rPr sz="2600" b="1">
                <a:solidFill>
                  <a:srgbClr val="662F91"/>
                </a:solidFill>
                <a:latin typeface="Calibri"/>
              </a:rPr>
              <a:t>Future scope: </a:t>
            </a:r>
            <a:r>
              <a:rPr sz="2600" b="0">
                <a:solidFill>
                  <a:srgbClr val="222222"/>
                </a:solidFill>
                <a:latin typeface="Calibri"/>
              </a:rPr>
              <a:t>historical snapshots, parcel tracking data, geospatial maps, district-level service-gap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712</Words>
  <Application>Microsoft Office PowerPoint</Application>
  <PresentationFormat>Custom</PresentationFormat>
  <Paragraphs>169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Problem Statement</vt:lpstr>
      <vt:lpstr>End-to-End Workflow</vt:lpstr>
      <vt:lpstr>Step 1: Data Collection &amp; Cleaning</vt:lpstr>
      <vt:lpstr>Step 2 &amp; 3: ETL and Schema Design</vt:lpstr>
      <vt:lpstr>SQL Analysis &amp; Business Questions</vt:lpstr>
      <vt:lpstr>Step 4: Dashboard &amp; Insights</vt:lpstr>
      <vt:lpstr>Project Files, GitHub &amp; Tech Stack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Review-1 Major Project.pdf</dc:title>
  <dc:creator>Netray Kamble</dc:creator>
  <cp:keywords>DAHQRaezU4c,BAFt8XB0E88</cp:keywords>
  <cp:lastModifiedBy>Admin</cp:lastModifiedBy>
  <cp:revision>38</cp:revision>
  <dcterms:created xsi:type="dcterms:W3CDTF">2026-07-24T18:52:00Z</dcterms:created>
  <dcterms:modified xsi:type="dcterms:W3CDTF">2026-09-29T09:03:23Z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2026-07-25T09:00:00Z</vt:filetime>
  </property>
  <property fmtid="{D5CDD505-2E9C-101B-9397-08002B2CF9AE}" pid="4" name="Creator">
    <vt:lpwstr>Canva</vt:lpwstr>
  </property>
  <property fmtid="{D5CDD505-2E9C-101B-9397-08002B2CF9AE}" pid="5" name="LastSaved">
    <vt:filetime>2026-07-25T09:00:00Z</vt:filetime>
  </property>
  <property fmtid="{D5CDD505-2E9C-101B-9397-08002B2CF9AE}" pid="6" name="Producer">
    <vt:lpwstr>Canva</vt:lpwstr>
  </property>
  <property fmtid="{D5CDD505-2E9C-101B-9397-08002B2CF9AE}" pid="7" name="ICV">
    <vt:lpwstr>7081C94CD5804BE3BB9318B09EB1F464_13</vt:lpwstr>
  </property>
  <property fmtid="{D5CDD505-2E9C-101B-9397-08002B2CF9AE}" pid="8" name="KSOProductBuildVer">
    <vt:lpwstr>2057-12.2.0.23206</vt:lpwstr>
  </property>
</Properties>
</file>